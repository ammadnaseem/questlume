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uturistic_ai_title_bg.png">
            <a:extLst>
              <a:ext uri="{FF2B5EF4-FFF2-40B4-BE49-F238E27FC236}">
                <a16:creationId xmlns:a16="http://schemas.microsoft.com/office/drawing/2014/main" id="{4C37B074-B122-0D5B-E8A0-7A093FD17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24"/>
          <a:stretch>
            <a:fillRect/>
          </a:stretch>
        </p:blipFill>
        <p:spPr>
          <a:xfrm>
            <a:off x="9877" y="9145"/>
            <a:ext cx="12182123" cy="68488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9345" y="1645920"/>
            <a:ext cx="7635240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DAY 15: TYPE HINTS</a:t>
            </a:r>
          </a:p>
          <a:p>
            <a:pPr>
              <a:spcBef>
                <a:spcPts val="1000"/>
              </a:spcBef>
              <a:defRPr sz="3600" b="1">
                <a:solidFill>
                  <a:srgbClr val="F5F6F8"/>
                </a:solidFill>
                <a:latin typeface="Trebuchet MS"/>
              </a:defRPr>
            </a:pPr>
            <a:r>
              <a:rPr dirty="0"/>
              <a:t>How Does Your AI Pipeline Know What Data to Expect?</a:t>
            </a:r>
          </a:p>
          <a:p>
            <a:pPr>
              <a:spcBef>
                <a:spcPts val="1200"/>
              </a:spcBef>
              <a:defRPr sz="1600">
                <a:solidFill>
                  <a:srgbClr val="9EAEB8"/>
                </a:solidFill>
                <a:latin typeface="Verdana"/>
              </a:defRPr>
            </a:pPr>
            <a:r>
              <a:rPr dirty="0">
                <a:solidFill>
                  <a:schemeClr val="bg1"/>
                </a:solidFill>
              </a:rPr>
              <a:t>Build Self-Documenting, Production-Ready Python Components for LLM Architectures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51437"/>
            <a:ext cx="3291840" cy="137160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4488597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1. TYPE</a:t>
            </a:r>
          </a:p>
          <a:p>
            <a:pPr>
              <a:defRPr sz="14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Kind of Data</a:t>
            </a:r>
          </a:p>
          <a:p>
            <a:pPr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str, int, float, bool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51437"/>
            <a:ext cx="3291840" cy="137160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4488597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2. TYPE HINT</a:t>
            </a:r>
          </a:p>
          <a:p>
            <a:pPr>
              <a:defRPr sz="14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Expected Label</a:t>
            </a:r>
          </a:p>
          <a:p>
            <a:pPr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query: str = 'RAG'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51437"/>
            <a:ext cx="3291840" cy="137160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4488597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3. CONTRACT</a:t>
            </a:r>
          </a:p>
          <a:p>
            <a:pPr>
              <a:defRPr sz="14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Function Bounds</a:t>
            </a:r>
          </a:p>
          <a:p>
            <a:pPr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(prompt: str) -&gt; str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1. CORE CONCEPT: EVERY PYTHON VALUE HAS A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75104"/>
            <a:ext cx="16433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rPr sz="1600" dirty="0"/>
              <a:t>TYPE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2706624"/>
            <a:ext cx="47731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Basic Data Types in Python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name = "Research Agent"   # str (Text)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tokens = 500          # int (Integer)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score = 0.92          # float (Decimal)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active = True         # bool (Flag)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Behavior depends on Type: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print(10 + 5)         # Output: 15 (Math)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print("10" + "5")     # Output: "105" (</a:t>
            </a:r>
            <a:r>
              <a:rPr sz="1600" dirty="0" err="1"/>
              <a:t>Concat</a:t>
            </a:r>
            <a:r>
              <a:rPr sz="1600" dirty="0"/>
              <a:t>!)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CONCEPT: TYPE = WHAT KIND OF DATA IS THIS?</a:t>
            </a:r>
          </a:p>
          <a:p>
            <a:pPr>
              <a:spcBef>
                <a:spcPts val="400"/>
              </a:spcBef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"Hello AI" --&gt;  str (Text string)</a:t>
            </a:r>
          </a:p>
          <a:p>
            <a:pPr>
              <a:spcBef>
                <a:spcPts val="400"/>
              </a:spcBef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500 --&gt;  int (Integer count)</a:t>
            </a:r>
          </a:p>
          <a:p>
            <a:pPr>
              <a:spcBef>
                <a:spcPts val="400"/>
              </a:spcBef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0.92 --&gt;  float (Floating decimal)</a:t>
            </a:r>
          </a:p>
          <a:p>
            <a:pPr>
              <a:spcBef>
                <a:spcPts val="400"/>
              </a:spcBef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True --&gt;  bool (Boolean true/false)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40480"/>
            <a:ext cx="5120640" cy="20116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977640"/>
            <a:ext cx="47548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F0A"/>
                </a:solidFill>
                <a:latin typeface="Trebuchet MS"/>
              </a:defRPr>
            </a:pPr>
            <a:r>
              <a:rPr sz="1600" dirty="0"/>
              <a:t>WHY TYPE MATTERS IN AI PIPELINES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In AI pipelines, passing string "500" instead of integer 500 into a token counter or API rate limiter causes silent math bugs or unexpected crashes. 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Type determines valid behavior!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2. THE LABEL: WHAT IS A TYPE HINT?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2038"/>
            <a:ext cx="4846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F0A"/>
                </a:solidFill>
                <a:latin typeface="Trebuchet MS"/>
              </a:defRPr>
            </a:pPr>
            <a:r>
              <a:rPr sz="1600" dirty="0"/>
              <a:t>WITHOUT TYPE HINTS (IMPLICIT GUESSWORK)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query = "What is RAG?" </a:t>
            </a:r>
            <a:r>
              <a:rPr sz="1600" dirty="0">
                <a:solidFill>
                  <a:schemeClr val="bg1"/>
                </a:solidFill>
              </a:rPr>
              <a:t># What is query?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tokens = 500           </a:t>
            </a:r>
            <a:r>
              <a:rPr sz="1600" dirty="0">
                <a:solidFill>
                  <a:schemeClr val="bg1"/>
                </a:solidFill>
              </a:rPr>
              <a:t># What is tokens?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score = 0.92           </a:t>
            </a:r>
            <a:r>
              <a:rPr sz="1600" dirty="0">
                <a:solidFill>
                  <a:schemeClr val="bg1"/>
                </a:solidFill>
              </a:rPr>
              <a:t># What is score?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active = True          </a:t>
            </a:r>
            <a:r>
              <a:rPr sz="1600" dirty="0">
                <a:solidFill>
                  <a:schemeClr val="bg1"/>
                </a:solidFill>
              </a:rPr>
              <a:t># What is active?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endParaRPr sz="1600"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Other developers must inspect values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to guess what kind of data is expected!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72038"/>
            <a:ext cx="484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WITH </a:t>
            </a:r>
            <a:r>
              <a:rPr sz="1600" i="1" dirty="0">
                <a:solidFill>
                  <a:srgbClr val="FFC000"/>
                </a:solidFill>
              </a:rPr>
              <a:t>TYPE HINTS </a:t>
            </a:r>
            <a:r>
              <a:rPr sz="1600" dirty="0"/>
              <a:t>(EXPLICIT LABELS)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/>
              <a:t>query: str = "What is RAG?"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/>
              <a:t>tokens: int = 500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/>
              <a:t>score: float = 0.92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/>
              <a:t>active: bool = True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</a:t>
            </a:r>
            <a:r>
              <a:rPr sz="1600" b="1" i="1" dirty="0">
                <a:solidFill>
                  <a:srgbClr val="FFC000"/>
                </a:solidFill>
              </a:rPr>
              <a:t>Instant clarity: </a:t>
            </a:r>
            <a:r>
              <a:rPr sz="1600" dirty="0">
                <a:solidFill>
                  <a:schemeClr val="bg1"/>
                </a:solidFill>
              </a:rPr>
              <a:t>Variable labels explicitly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declare expected data types upfront!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Trebuchet MS"/>
              </a:defRPr>
            </a:pPr>
            <a:r>
              <a:rPr sz="1600" i="1" dirty="0">
                <a:solidFill>
                  <a:srgbClr val="FFFF00"/>
                </a:solidFill>
              </a:rPr>
              <a:t>SYNTAX ANATOMY: </a:t>
            </a:r>
            <a:r>
              <a:rPr sz="1600" dirty="0"/>
              <a:t>query: str = "What is RAG?"</a:t>
            </a:r>
          </a:p>
          <a:p>
            <a:pPr>
              <a:spcBef>
                <a:spcPts val="400"/>
              </a:spcBef>
              <a:defRPr sz="1200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• </a:t>
            </a:r>
            <a:r>
              <a:rPr sz="1400" b="1" dirty="0"/>
              <a:t>query  --&gt;  Variable Identifier  |  : str  --&gt;  </a:t>
            </a:r>
            <a:r>
              <a:rPr sz="1400" dirty="0"/>
              <a:t>TYPE HINT (Label)  |  = "What is RAG?"  --&gt;  Assigned Value</a:t>
            </a:r>
          </a:p>
          <a:p>
            <a:pPr>
              <a:spcBef>
                <a:spcPts val="400"/>
              </a:spcBef>
              <a:defRPr sz="1200" b="1">
                <a:solidFill>
                  <a:srgbClr val="FF9F0A"/>
                </a:solidFill>
                <a:latin typeface="Verdana"/>
              </a:defRPr>
            </a:pPr>
            <a:r>
              <a:rPr sz="1400" i="1" dirty="0">
                <a:solidFill>
                  <a:srgbClr val="00E5FF"/>
                </a:solidFill>
              </a:rPr>
              <a:t>MEMORY TRICK: </a:t>
            </a:r>
            <a:r>
              <a:rPr sz="1400" dirty="0">
                <a:solidFill>
                  <a:schemeClr val="bg1"/>
                </a:solidFill>
              </a:rPr>
              <a:t>Type = Kind of Data  </a:t>
            </a:r>
            <a:r>
              <a:rPr sz="1400" dirty="0"/>
              <a:t>|  </a:t>
            </a:r>
            <a:r>
              <a:rPr sz="1400" i="1" dirty="0"/>
              <a:t>Type Hint </a:t>
            </a:r>
            <a:r>
              <a:rPr sz="1400" dirty="0"/>
              <a:t>= </a:t>
            </a:r>
            <a:r>
              <a:rPr sz="1400" dirty="0">
                <a:solidFill>
                  <a:schemeClr val="bg1"/>
                </a:solidFill>
              </a:rPr>
              <a:t>Visible Label Showing Expected Kind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3. FUNCTION CONTRACTS: INPUTS &amp;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62239"/>
            <a:ext cx="48463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F0A"/>
                </a:solidFill>
                <a:latin typeface="Trebuchet MS"/>
              </a:defRPr>
            </a:pPr>
            <a:r>
              <a:rPr dirty="0"/>
              <a:t>UNTYPED FUNCTION SIGNATURE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def </a:t>
            </a:r>
            <a:r>
              <a:rPr sz="1400" dirty="0" err="1">
                <a:solidFill>
                  <a:srgbClr val="00B050"/>
                </a:solidFill>
              </a:rPr>
              <a:t>ask_ai</a:t>
            </a:r>
            <a:r>
              <a:rPr sz="1400" dirty="0">
                <a:solidFill>
                  <a:srgbClr val="00B050"/>
                </a:solidFill>
              </a:rPr>
              <a:t>(prompt):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return response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rgbClr val="00E5FF"/>
                </a:solidFill>
              </a:rPr>
              <a:t># </a:t>
            </a:r>
            <a:r>
              <a:rPr sz="1400" b="1" i="1" dirty="0">
                <a:solidFill>
                  <a:srgbClr val="00E5FF"/>
                </a:solidFill>
              </a:rPr>
              <a:t>Questions engineers have to guess: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❓ What is prompt? (str? </a:t>
            </a:r>
            <a:r>
              <a:rPr sz="1400" dirty="0" err="1">
                <a:solidFill>
                  <a:schemeClr val="bg1"/>
                </a:solidFill>
              </a:rPr>
              <a:t>dict</a:t>
            </a:r>
            <a:r>
              <a:rPr sz="1400" dirty="0">
                <a:solidFill>
                  <a:schemeClr val="bg1"/>
                </a:solidFill>
              </a:rPr>
              <a:t>? list?)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❓ What does </a:t>
            </a:r>
            <a:r>
              <a:rPr sz="1400" dirty="0" err="1">
                <a:solidFill>
                  <a:schemeClr val="bg1"/>
                </a:solidFill>
              </a:rPr>
              <a:t>ask_ai</a:t>
            </a:r>
            <a:r>
              <a:rPr sz="1400" dirty="0">
                <a:solidFill>
                  <a:schemeClr val="bg1"/>
                </a:solidFill>
              </a:rPr>
              <a:t> return? (str? object?)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❓ Will it crash if I pass an integer?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1280" y="1938528"/>
            <a:ext cx="48463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TYPED FUNCTION SIGNATURE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def </a:t>
            </a:r>
            <a:r>
              <a:rPr sz="1400" dirty="0" err="1">
                <a:solidFill>
                  <a:srgbClr val="00B050"/>
                </a:solidFill>
              </a:rPr>
              <a:t>ask_ai</a:t>
            </a:r>
            <a:r>
              <a:rPr sz="1400" dirty="0">
                <a:solidFill>
                  <a:srgbClr val="00B050"/>
                </a:solidFill>
              </a:rPr>
              <a:t>(prompt: str) -&gt; str: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return response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b="1" i="1" dirty="0">
                <a:solidFill>
                  <a:srgbClr val="FFC000"/>
                </a:solidFill>
              </a:rPr>
              <a:t># Self-documenting interface: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• prompt: str  --&gt; Expected Input: string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• -&gt; str        --&gt; Expected Output: string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• Instantly clear to IDEs and developers!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Trebuchet MS"/>
              </a:defRPr>
            </a:pPr>
            <a:r>
              <a:t>THE FUNCTION TYPE MENTAL MODEL</a:t>
            </a:r>
          </a:p>
          <a:p>
            <a:pPr>
              <a:spcBef>
                <a:spcPts val="800"/>
              </a:spcBef>
              <a:defRPr sz="1400" b="1">
                <a:solidFill>
                  <a:srgbClr val="F5F6F8"/>
                </a:solidFill>
                <a:latin typeface="Consolas"/>
              </a:defRPr>
            </a:pPr>
            <a:r>
              <a:t>[ INPUT TYPE: prompt: str ]   --&gt;   [ FUNCTION: ask_ai() ]   --&gt;   [ OUTPUT TYPE: -&gt; str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4. COLLECTIONS: LISTS &amp; DICTIONARIES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484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LIST TYPE HINTS: list[str]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documents: list[str]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600"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Represents an ordered list of strings: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[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"doc_1: RAG Architecture",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"doc_2: Vector Embeddings",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"doc_3: LLM Benchmarks"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29184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1280" y="1856232"/>
            <a:ext cx="484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DICTIONARY TYPE HINTS: </a:t>
            </a:r>
            <a:r>
              <a:rPr sz="1600" dirty="0" err="1"/>
              <a:t>dict</a:t>
            </a:r>
            <a:r>
              <a:rPr sz="1600" dirty="0"/>
              <a:t>[str, str]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metadata: </a:t>
            </a:r>
            <a:r>
              <a:rPr sz="1600" dirty="0" err="1">
                <a:solidFill>
                  <a:srgbClr val="00B050"/>
                </a:solidFill>
              </a:rPr>
              <a:t>dict</a:t>
            </a:r>
            <a:r>
              <a:rPr sz="1600" dirty="0">
                <a:solidFill>
                  <a:srgbClr val="00B050"/>
                </a:solidFill>
              </a:rPr>
              <a:t>[str, str]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Key (str) -&gt; Value (str) mapping: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{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"author": "Aamad Naseem",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"topic": "Python x AI Engineering",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"status": "Production"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26015"/>
            <a:ext cx="1033272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COMBINING COLLECTION TYPE HINTS IN FUNCTIONS</a:t>
            </a:r>
          </a:p>
          <a:p>
            <a:pPr>
              <a:spcBef>
                <a:spcPts val="400"/>
              </a:spcBef>
              <a:defRPr sz="1300" b="1">
                <a:solidFill>
                  <a:srgbClr val="F5F6F8"/>
                </a:solidFill>
                <a:latin typeface="Consolas"/>
              </a:defRPr>
            </a:pPr>
            <a:r>
              <a:rPr dirty="0">
                <a:solidFill>
                  <a:srgbClr val="00B050"/>
                </a:solidFill>
              </a:rPr>
              <a:t>def </a:t>
            </a:r>
            <a:r>
              <a:rPr dirty="0" err="1">
                <a:solidFill>
                  <a:srgbClr val="00B050"/>
                </a:solidFill>
              </a:rPr>
              <a:t>get_docs</a:t>
            </a:r>
            <a:r>
              <a:rPr dirty="0">
                <a:solidFill>
                  <a:srgbClr val="00B050"/>
                </a:solidFill>
              </a:rPr>
              <a:t>(query: str) -&gt; list[str]: ...</a:t>
            </a:r>
          </a:p>
          <a:p>
            <a:pPr>
              <a:spcBef>
                <a:spcPts val="400"/>
              </a:spcBef>
              <a:defRPr sz="1200">
                <a:solidFill>
                  <a:srgbClr val="9EAEB8"/>
                </a:solidFill>
                <a:latin typeface="Verdana"/>
              </a:defRPr>
            </a:pPr>
            <a:r>
              <a:rPr b="1" dirty="0">
                <a:solidFill>
                  <a:srgbClr val="FFC000"/>
                </a:solidFill>
              </a:rPr>
              <a:t>Translation: </a:t>
            </a:r>
            <a:endParaRPr lang="en-US" b="1" dirty="0">
              <a:solidFill>
                <a:srgbClr val="FFC000"/>
              </a:solidFill>
            </a:endParaRP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9EAEB8"/>
                </a:solidFill>
                <a:latin typeface="Verdana"/>
              </a:defRPr>
            </a:pPr>
            <a:r>
              <a:rPr dirty="0">
                <a:solidFill>
                  <a:schemeClr val="bg1"/>
                </a:solidFill>
              </a:rPr>
              <a:t>Give me a single string query --&gt; I'll return a list containing string document chunks!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5. CRITICAL TRAP: TYPE HINT != TYPE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F0A"/>
                </a:solidFill>
                <a:latin typeface="Trebuchet MS"/>
              </a:defRPr>
            </a:pPr>
            <a:r>
              <a:rPr sz="1400" dirty="0"/>
              <a:t>THE MYTH: AUTOMATIC ENFORCEMENT?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def </a:t>
            </a:r>
            <a:r>
              <a:rPr sz="1400" dirty="0" err="1">
                <a:solidFill>
                  <a:srgbClr val="00B050"/>
                </a:solidFill>
              </a:rPr>
              <a:t>ask_ai</a:t>
            </a:r>
            <a:r>
              <a:rPr sz="1400" dirty="0">
                <a:solidFill>
                  <a:srgbClr val="00B050"/>
                </a:solidFill>
              </a:rPr>
              <a:t>(prompt: str) -&gt; str: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return prompt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400"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What happens if someone calls: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 err="1">
                <a:solidFill>
                  <a:srgbClr val="00B050"/>
                </a:solidFill>
              </a:rPr>
              <a:t>ask_ai</a:t>
            </a:r>
            <a:r>
              <a:rPr sz="1400" dirty="0">
                <a:solidFill>
                  <a:srgbClr val="00B050"/>
                </a:solidFill>
              </a:rPr>
              <a:t>(100)  </a:t>
            </a:r>
            <a:r>
              <a:rPr sz="1400" dirty="0"/>
              <a:t># Passed an integer!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400" dirty="0"/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Will Python throw a </a:t>
            </a:r>
            <a:r>
              <a:rPr sz="1400" dirty="0" err="1">
                <a:solidFill>
                  <a:schemeClr val="bg1"/>
                </a:solidFill>
              </a:rPr>
              <a:t>TypeError</a:t>
            </a:r>
            <a:r>
              <a:rPr sz="1400" dirty="0">
                <a:solidFill>
                  <a:schemeClr val="bg1"/>
                </a:solidFill>
              </a:rPr>
              <a:t>?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# ❌ NO! Python executes it anyway!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sz="1400" dirty="0"/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# Output: 100 (Integer returned!)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# Type Hints do NOT block bad runtime data!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1280" y="2011680"/>
            <a:ext cx="4846320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THE REALITY: EXPECTATION VS VALIDATION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</a:t>
            </a:r>
            <a:r>
              <a:rPr sz="1600" i="1" dirty="0">
                <a:solidFill>
                  <a:srgbClr val="FFC000"/>
                </a:solidFill>
              </a:rPr>
              <a:t>LABEL / EXPECTATION: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400" dirty="0">
                <a:solidFill>
                  <a:schemeClr val="bg1"/>
                </a:solidFill>
              </a:rPr>
              <a:t>  Type hints show developers &amp; static analyzers (</a:t>
            </a:r>
            <a:r>
              <a:rPr sz="1400" dirty="0" err="1">
                <a:solidFill>
                  <a:schemeClr val="bg1"/>
                </a:solidFill>
              </a:rPr>
              <a:t>mypy</a:t>
            </a:r>
            <a:r>
              <a:rPr sz="1400" dirty="0">
                <a:solidFill>
                  <a:schemeClr val="bg1"/>
                </a:solidFill>
              </a:rPr>
              <a:t>, IDEs) what data SHOULD be passed.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</a:t>
            </a:r>
            <a:r>
              <a:rPr sz="1600" i="1" dirty="0">
                <a:solidFill>
                  <a:srgbClr val="FFC000"/>
                </a:solidFill>
              </a:rPr>
              <a:t>RUNTIME VALIDATION: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400" dirty="0">
                <a:solidFill>
                  <a:schemeClr val="bg1"/>
                </a:solidFill>
              </a:rPr>
              <a:t>  Enforcing types at runtime requires external tools (</a:t>
            </a:r>
            <a:r>
              <a:rPr sz="1400" b="1" i="1" dirty="0">
                <a:solidFill>
                  <a:srgbClr val="FFC000"/>
                </a:solidFill>
              </a:rPr>
              <a:t>like </a:t>
            </a:r>
            <a:r>
              <a:rPr sz="1400" b="1" i="1" dirty="0" err="1">
                <a:solidFill>
                  <a:srgbClr val="FFC000"/>
                </a:solidFill>
              </a:rPr>
              <a:t>Pydantic</a:t>
            </a:r>
            <a:r>
              <a:rPr sz="1400" b="1" i="1" dirty="0">
                <a:solidFill>
                  <a:srgbClr val="FFC000"/>
                </a:solidFill>
              </a:rPr>
              <a:t> or @typechecked</a:t>
            </a:r>
            <a:r>
              <a:rPr sz="1400" dirty="0">
                <a:solidFill>
                  <a:schemeClr val="bg1"/>
                </a:solidFill>
              </a:rPr>
              <a:t>).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</a:t>
            </a:r>
            <a:r>
              <a:rPr sz="1600" i="1" dirty="0">
                <a:solidFill>
                  <a:srgbClr val="FFC000"/>
                </a:solidFill>
              </a:rPr>
              <a:t>AI PIPELINE RISK: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400" dirty="0">
                <a:solidFill>
                  <a:schemeClr val="bg1"/>
                </a:solidFill>
              </a:rPr>
              <a:t>  Passing unvalidated integer 100 into </a:t>
            </a:r>
            <a:r>
              <a:rPr sz="1400" b="1" i="1" dirty="0" err="1">
                <a:solidFill>
                  <a:srgbClr val="FFC000"/>
                </a:solidFill>
              </a:rPr>
              <a:t>prompt.upper</a:t>
            </a:r>
            <a:r>
              <a:rPr sz="1400" b="1" i="1" dirty="0">
                <a:solidFill>
                  <a:srgbClr val="FFC000"/>
                </a:solidFill>
              </a:rPr>
              <a:t>() </a:t>
            </a:r>
            <a:r>
              <a:rPr sz="1400" dirty="0">
                <a:solidFill>
                  <a:schemeClr val="bg1"/>
                </a:solidFill>
              </a:rPr>
              <a:t>causes runtime </a:t>
            </a:r>
            <a:r>
              <a:rPr sz="1400" b="1" i="1" dirty="0" err="1">
                <a:solidFill>
                  <a:srgbClr val="FF0000"/>
                </a:solidFill>
              </a:rPr>
              <a:t>AttributeError</a:t>
            </a:r>
            <a:r>
              <a:rPr sz="1400" dirty="0">
                <a:solidFill>
                  <a:schemeClr val="bg1"/>
                </a:solidFill>
              </a:rPr>
              <a:t> during live LLM calls!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• </a:t>
            </a:r>
            <a:r>
              <a:rPr sz="1600" i="1" dirty="0">
                <a:solidFill>
                  <a:srgbClr val="FFC000"/>
                </a:solidFill>
              </a:rPr>
              <a:t>GOLDEN RULE: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400" dirty="0">
                <a:solidFill>
                  <a:schemeClr val="bg1"/>
                </a:solidFill>
              </a:rPr>
              <a:t>  </a:t>
            </a:r>
            <a:r>
              <a:rPr sz="1400" b="1" i="1" dirty="0">
                <a:solidFill>
                  <a:srgbClr val="00E5FF"/>
                </a:solidFill>
              </a:rPr>
              <a:t>Type Hint </a:t>
            </a:r>
            <a:r>
              <a:rPr sz="1400" dirty="0">
                <a:solidFill>
                  <a:schemeClr val="bg1"/>
                </a:solidFill>
              </a:rPr>
              <a:t>= Expectation Contract  |  Runtime </a:t>
            </a:r>
            <a:r>
              <a:rPr sz="1400" b="1" i="1" dirty="0">
                <a:solidFill>
                  <a:srgbClr val="00E5FF"/>
                </a:solidFill>
              </a:rPr>
              <a:t>Validation </a:t>
            </a:r>
            <a:r>
              <a:rPr sz="1400" dirty="0">
                <a:solidFill>
                  <a:schemeClr val="bg1"/>
                </a:solidFill>
              </a:rPr>
              <a:t>= Separate Defense Concern!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6. AI SYSTEM ARCHITECTURE: DATA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219456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rPr sz="1400" dirty="0"/>
              <a:t>1. USER QUERY</a:t>
            </a:r>
          </a:p>
          <a:p>
            <a:pPr>
              <a:spcBef>
                <a:spcPts val="800"/>
              </a:spcBef>
              <a:defRPr sz="1300" b="1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query: str</a:t>
            </a:r>
          </a:p>
          <a:p>
            <a:pPr>
              <a:spcBef>
                <a:spcPts val="8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Input text string</a:t>
            </a:r>
            <a:br>
              <a:rPr sz="1600" dirty="0"/>
            </a:br>
            <a:r>
              <a:rPr sz="1600" b="1" i="1" dirty="0">
                <a:solidFill>
                  <a:srgbClr val="00B050"/>
                </a:solidFill>
              </a:rPr>
              <a:t>e.g. </a:t>
            </a:r>
            <a:r>
              <a:rPr sz="1600" dirty="0"/>
              <a:t>"What is RAG?"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46888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039112"/>
            <a:ext cx="2194560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2. RETRIEVER</a:t>
            </a:r>
          </a:p>
          <a:p>
            <a:pPr>
              <a:spcBef>
                <a:spcPts val="800"/>
              </a:spcBef>
              <a:defRPr sz="1300" b="1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documents: list[str]</a:t>
            </a:r>
          </a:p>
          <a:p>
            <a:pPr>
              <a:spcBef>
                <a:spcPts val="8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Output doc chunks</a:t>
            </a:r>
            <a:br>
              <a:rPr sz="1400" dirty="0"/>
            </a:br>
            <a:r>
              <a:rPr sz="1400" b="1" i="1" dirty="0">
                <a:solidFill>
                  <a:srgbClr val="00B050"/>
                </a:solidFill>
              </a:rPr>
              <a:t>e.g. </a:t>
            </a:r>
            <a:r>
              <a:rPr sz="1400" dirty="0"/>
              <a:t>["doc1", "doc2"]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46888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039112"/>
            <a:ext cx="219456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3. LLM ENGINE</a:t>
            </a:r>
          </a:p>
          <a:p>
            <a:pPr>
              <a:spcBef>
                <a:spcPts val="800"/>
              </a:spcBef>
              <a:defRPr sz="1300" b="1">
                <a:solidFill>
                  <a:srgbClr val="FF9F0A"/>
                </a:solidFill>
                <a:latin typeface="Consolas"/>
              </a:defRPr>
            </a:pPr>
            <a:r>
              <a:rPr sz="1600" dirty="0"/>
              <a:t>response: str</a:t>
            </a:r>
          </a:p>
          <a:p>
            <a:pPr>
              <a:spcBef>
                <a:spcPts val="8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Generated output</a:t>
            </a:r>
            <a:br>
              <a:rPr sz="1400" dirty="0"/>
            </a:br>
            <a:r>
              <a:rPr sz="1400" b="1" i="1" dirty="0">
                <a:solidFill>
                  <a:srgbClr val="00B050"/>
                </a:solidFill>
              </a:rPr>
              <a:t>e.g. </a:t>
            </a:r>
            <a:r>
              <a:rPr sz="1400" dirty="0"/>
              <a:t>"RAG retrieves..."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46888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2039112"/>
            <a:ext cx="219456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rPr sz="1400" dirty="0"/>
              <a:t>4. AGENT TOOL</a:t>
            </a:r>
          </a:p>
          <a:p>
            <a:pPr>
              <a:spcBef>
                <a:spcPts val="800"/>
              </a:spcBef>
              <a:defRPr sz="1300" b="1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metadata: </a:t>
            </a:r>
            <a:r>
              <a:rPr sz="1400" dirty="0" err="1"/>
              <a:t>dict</a:t>
            </a:r>
            <a:r>
              <a:rPr sz="1400" dirty="0"/>
              <a:t>[str, str]</a:t>
            </a:r>
          </a:p>
          <a:p>
            <a:pPr>
              <a:spcBef>
                <a:spcPts val="8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600" dirty="0"/>
              <a:t>Tool metrics</a:t>
            </a:r>
            <a:br>
              <a:rPr sz="1600" dirty="0"/>
            </a:br>
            <a:r>
              <a:rPr sz="1600" b="1" i="1" dirty="0">
                <a:solidFill>
                  <a:srgbClr val="00B050"/>
                </a:solidFill>
              </a:rPr>
              <a:t>e.g. </a:t>
            </a:r>
            <a:r>
              <a:rPr sz="1600" dirty="0"/>
              <a:t>{"status": "200"}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698480" cy="173736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782312"/>
            <a:ext cx="1033272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WHY TYPES MATTER IN MULTI-COMPONENT AI PIPELINES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100">
                <a:solidFill>
                  <a:srgbClr val="FF9F0A"/>
                </a:solidFill>
                <a:latin typeface="Verdana"/>
              </a:defRPr>
            </a:pPr>
            <a:r>
              <a:rPr sz="1400" dirty="0"/>
              <a:t>UNTYPED PIPELINES: </a:t>
            </a:r>
            <a:r>
              <a:rPr sz="1400" dirty="0">
                <a:solidFill>
                  <a:schemeClr val="bg1"/>
                </a:solidFill>
              </a:rPr>
              <a:t>Guessing component bounds --&gt; Debugging nightmare --&gt; Incompatible API connections.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100">
                <a:solidFill>
                  <a:srgbClr val="F5F6F8"/>
                </a:solidFill>
                <a:latin typeface="Verdana"/>
              </a:defRPr>
            </a:pPr>
            <a:r>
              <a:rPr lang="en-US" sz="1400" b="1" i="1" dirty="0">
                <a:solidFill>
                  <a:srgbClr val="00E5FF"/>
                </a:solidFill>
              </a:rPr>
              <a:t>TYPED PIPELINES: </a:t>
            </a:r>
            <a:r>
              <a:rPr lang="en-US" sz="1400" dirty="0"/>
              <a:t>Visible contracts --&gt; Instant IDE autocomplete --&gt; Safe multi-agent tool integrations!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7. REAL-WORLD EXAMPLE: RAG RETRIEVER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3166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rPr sz="1600" dirty="0"/>
              <a:t>RAG RETRIEVER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1674"/>
            <a:ext cx="5029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E5FF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class </a:t>
            </a:r>
            <a:r>
              <a:rPr sz="1400" dirty="0" err="1">
                <a:solidFill>
                  <a:srgbClr val="00B050"/>
                </a:solidFill>
              </a:rPr>
              <a:t>RAGRetriever</a:t>
            </a:r>
            <a:r>
              <a:rPr sz="1400" dirty="0">
                <a:solidFill>
                  <a:srgbClr val="00B050"/>
                </a:solidFill>
              </a:rPr>
              <a:t>:</a:t>
            </a:r>
          </a:p>
          <a:p>
            <a:pPr>
              <a:defRPr sz="1200">
                <a:solidFill>
                  <a:srgbClr val="00E5FF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def retrieve(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self,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query: str,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</a:t>
            </a:r>
            <a:r>
              <a:rPr sz="1400" dirty="0" err="1">
                <a:solidFill>
                  <a:srgbClr val="00B050"/>
                </a:solidFill>
              </a:rPr>
              <a:t>top_k</a:t>
            </a:r>
            <a:r>
              <a:rPr sz="1400" dirty="0">
                <a:solidFill>
                  <a:srgbClr val="00B050"/>
                </a:solidFill>
              </a:rPr>
              <a:t>: int = 5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) -&gt; list[str]: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"""Fetches </a:t>
            </a:r>
            <a:r>
              <a:rPr sz="1400" dirty="0" err="1">
                <a:solidFill>
                  <a:srgbClr val="00B050"/>
                </a:solidFill>
              </a:rPr>
              <a:t>top_k</a:t>
            </a:r>
            <a:r>
              <a:rPr sz="1400" dirty="0">
                <a:solidFill>
                  <a:srgbClr val="00B050"/>
                </a:solidFill>
              </a:rPr>
              <a:t> matching document chunks."""</a:t>
            </a:r>
          </a:p>
          <a:p>
            <a:pPr>
              <a:defRPr sz="1200">
                <a:solidFill>
                  <a:srgbClr val="00E5FF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return [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    "chunk_1: RAG Architecture",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    "chunk_2: Vector Search"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400" dirty="0">
                <a:solidFill>
                  <a:srgbClr val="00B050"/>
                </a:solidFill>
              </a:rPr>
              <a:t>       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20640" cy="475488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CONTRACT BREAKDOWN</a:t>
            </a:r>
          </a:p>
          <a:p>
            <a:pPr>
              <a:spcBef>
                <a:spcPts val="800"/>
              </a:spcBef>
              <a:defRPr sz="1200" b="1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• </a:t>
            </a:r>
            <a:r>
              <a:rPr sz="1400" dirty="0" err="1"/>
              <a:t>que</a:t>
            </a:r>
            <a:r>
              <a:rPr lang="en-US" sz="1400" dirty="0" err="1"/>
              <a:t>COMPONENT</a:t>
            </a:r>
            <a:r>
              <a:rPr sz="1400" dirty="0" err="1"/>
              <a:t>ry</a:t>
            </a:r>
            <a:r>
              <a:rPr sz="1400" dirty="0"/>
              <a:t>: str: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200" dirty="0">
                <a:solidFill>
                  <a:schemeClr val="bg1"/>
                </a:solidFill>
              </a:rPr>
              <a:t>  User search query text (e.g. "What is Agentic AI?")</a:t>
            </a:r>
          </a:p>
          <a:p>
            <a:pPr>
              <a:spcBef>
                <a:spcPts val="800"/>
              </a:spcBef>
              <a:defRPr sz="1200" b="1">
                <a:solidFill>
                  <a:srgbClr val="FF9F0A"/>
                </a:solidFill>
                <a:latin typeface="Consolas"/>
              </a:defRPr>
            </a:pPr>
            <a:r>
              <a:rPr sz="1400" dirty="0"/>
              <a:t>• </a:t>
            </a:r>
            <a:r>
              <a:rPr sz="1400" dirty="0" err="1"/>
              <a:t>top_k</a:t>
            </a:r>
            <a:r>
              <a:rPr sz="1400" dirty="0"/>
              <a:t>: int = 5: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200" dirty="0">
                <a:solidFill>
                  <a:schemeClr val="bg1"/>
                </a:solidFill>
              </a:rPr>
              <a:t>  Number of doc chunks to fetch (Defaults to integer 5)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• </a:t>
            </a:r>
            <a:r>
              <a:rPr sz="1400" dirty="0">
                <a:solidFill>
                  <a:srgbClr val="FFC000"/>
                </a:solidFill>
              </a:rPr>
              <a:t>-&gt; list[str]: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200" dirty="0"/>
              <a:t>  </a:t>
            </a:r>
            <a:r>
              <a:rPr sz="1200" dirty="0">
                <a:solidFill>
                  <a:schemeClr val="bg1"/>
                </a:solidFill>
              </a:rPr>
              <a:t>Guarantees returning a list containing string chunks</a:t>
            </a:r>
          </a:p>
          <a:p>
            <a:pPr>
              <a:spcBef>
                <a:spcPts val="800"/>
              </a:spcBef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sz="1400" i="1" dirty="0">
                <a:solidFill>
                  <a:srgbClr val="FFC000"/>
                </a:solidFill>
              </a:rPr>
              <a:t>• DEVELOPER BENEFIT:</a:t>
            </a:r>
          </a:p>
          <a:p>
            <a:pPr>
              <a:defRPr sz="1100">
                <a:solidFill>
                  <a:srgbClr val="9EAEB8"/>
                </a:solidFill>
                <a:latin typeface="Verdana"/>
              </a:defRPr>
            </a:pPr>
            <a:r>
              <a:rPr sz="1200" dirty="0">
                <a:solidFill>
                  <a:schemeClr val="bg1"/>
                </a:solidFill>
              </a:rPr>
              <a:t>  Another engineer can integrate this retriever in 5 seconds without reading internal function logic!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8. INTERACTIVE CHALLENGE: READ THE SIGNATURE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0C101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2503"/>
            <a:ext cx="11945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rPr sz="1600" dirty="0"/>
              <a:t>QUIZ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754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E5FF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def </a:t>
            </a:r>
            <a:r>
              <a:rPr sz="1600" dirty="0" err="1">
                <a:solidFill>
                  <a:srgbClr val="00B050"/>
                </a:solidFill>
              </a:rPr>
              <a:t>search_papers</a:t>
            </a:r>
            <a:r>
              <a:rPr sz="1600" dirty="0">
                <a:solidFill>
                  <a:srgbClr val="00B050"/>
                </a:solidFill>
              </a:rPr>
              <a:t>(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  query: str,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  limit: int</a:t>
            </a:r>
          </a:p>
          <a:p>
            <a:pPr>
              <a:defRPr sz="1200">
                <a:solidFill>
                  <a:srgbClr val="FF9F0A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) -&gt; list[str]: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r>
              <a:rPr sz="1600" dirty="0">
                <a:solidFill>
                  <a:srgbClr val="00B050"/>
                </a:solidFill>
              </a:rPr>
              <a:t>    ...</a:t>
            </a:r>
          </a:p>
          <a:p>
            <a:pPr>
              <a:defRPr sz="1200">
                <a:solidFill>
                  <a:srgbClr val="F5F6F8"/>
                </a:solidFill>
                <a:latin typeface="Consolas"/>
              </a:defRPr>
            </a:pPr>
            <a:endParaRPr dirty="0"/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b="1" i="1" dirty="0">
                <a:solidFill>
                  <a:schemeClr val="bg1"/>
                </a:solidFill>
              </a:rPr>
              <a:t># Question:</a:t>
            </a:r>
          </a:p>
          <a:p>
            <a:pPr>
              <a:defRPr sz="1200">
                <a:solidFill>
                  <a:srgbClr val="9EAEB8"/>
                </a:solidFill>
                <a:latin typeface="Consolas"/>
              </a:defRPr>
            </a:pPr>
            <a:r>
              <a:rPr sz="1600" dirty="0">
                <a:solidFill>
                  <a:schemeClr val="bg1"/>
                </a:solidFill>
              </a:rPr>
              <a:t># What does this type hint signature mean?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486400" cy="100584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642680"/>
            <a:ext cx="521208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EAEB8"/>
                </a:solidFill>
                <a:latin typeface="Trebuchet MS"/>
              </a:defRPr>
            </a:pPr>
            <a:r>
              <a:rPr sz="1600" dirty="0">
                <a:solidFill>
                  <a:schemeClr val="bg1"/>
                </a:solidFill>
              </a:rPr>
              <a:t>OPTION A:</a:t>
            </a:r>
          </a:p>
          <a:p>
            <a:pPr>
              <a:spcBef>
                <a:spcPts val="2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400" dirty="0">
                <a:solidFill>
                  <a:schemeClr val="bg1"/>
                </a:solidFill>
              </a:rPr>
              <a:t>Takes a list --&gt; returns an integer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651760"/>
            <a:ext cx="5486400" cy="100584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2743200"/>
            <a:ext cx="5212080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Trebuchet MS"/>
              </a:defRPr>
            </a:pPr>
            <a:r>
              <a:rPr sz="1600" dirty="0"/>
              <a:t>OPTION B: [OK] CORRECT ANSWER!</a:t>
            </a:r>
          </a:p>
          <a:p>
            <a:pPr>
              <a:spcBef>
                <a:spcPts val="2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Takes a string + integer --&gt; returns a list of strings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840480"/>
            <a:ext cx="5486400" cy="100584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3931920"/>
            <a:ext cx="521208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EAEB8"/>
                </a:solidFill>
                <a:latin typeface="Trebuchet MS"/>
              </a:defRPr>
            </a:pPr>
            <a:r>
              <a:rPr sz="1600" dirty="0">
                <a:solidFill>
                  <a:schemeClr val="bg1"/>
                </a:solidFill>
              </a:rPr>
              <a:t>OPTION C:</a:t>
            </a:r>
          </a:p>
          <a:p>
            <a:pPr>
              <a:spcBef>
                <a:spcPts val="2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600" dirty="0">
                <a:solidFill>
                  <a:schemeClr val="bg1"/>
                </a:solidFill>
              </a:rPr>
              <a:t>Takes two strings --&gt; returns a dictionary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029200"/>
            <a:ext cx="5486400" cy="100584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32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5215320"/>
            <a:ext cx="521208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EAEB8"/>
                </a:solidFill>
                <a:latin typeface="Trebuchet MS"/>
              </a:defRPr>
            </a:pPr>
            <a:r>
              <a:rPr sz="1600" dirty="0">
                <a:solidFill>
                  <a:schemeClr val="bg1"/>
                </a:solidFill>
              </a:rPr>
              <a:t>OPTION D:</a:t>
            </a:r>
          </a:p>
          <a:p>
            <a:pPr>
              <a:spcBef>
                <a:spcPts val="200"/>
              </a:spcBef>
              <a:defRPr sz="1100">
                <a:solidFill>
                  <a:srgbClr val="F5F6F8"/>
                </a:solidFill>
                <a:latin typeface="Verdana"/>
              </a:defRPr>
            </a:pPr>
            <a:r>
              <a:rPr sz="1600" dirty="0">
                <a:solidFill>
                  <a:schemeClr val="bg1"/>
                </a:solidFill>
              </a:rPr>
              <a:t>Automatically validates inputs at runtime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PYTHON × AI ENGINEERING |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6F8"/>
                </a:solidFill>
                <a:latin typeface="Trebuchet MS"/>
              </a:defRPr>
            </a:pPr>
            <a:r>
              <a:t>9. MASTER TAKEAWAYS: TYPE HINTS ARE DATA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79846"/>
            <a:ext cx="301752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sz="1400" dirty="0"/>
              <a:t>1. TYPE</a:t>
            </a:r>
          </a:p>
          <a:p>
            <a:pPr>
              <a:spcBef>
                <a:spcPts val="800"/>
              </a:spcBef>
              <a:defRPr sz="1300" b="1">
                <a:solidFill>
                  <a:srgbClr val="F5F6F8"/>
                </a:solidFill>
                <a:latin typeface="Verdana"/>
              </a:defRPr>
            </a:pPr>
            <a:r>
              <a:rPr sz="1400" dirty="0"/>
              <a:t>What kind of data is this?</a:t>
            </a:r>
          </a:p>
          <a:p>
            <a:pPr>
              <a:spcBef>
                <a:spcPts val="800"/>
              </a:spcBef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str, int, float, bool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Describes value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179846"/>
            <a:ext cx="301752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2. TYPE HINT</a:t>
            </a:r>
          </a:p>
          <a:p>
            <a:pPr>
              <a:spcBef>
                <a:spcPts val="800"/>
              </a:spcBef>
              <a:defRPr sz="1300" b="1">
                <a:solidFill>
                  <a:srgbClr val="F5F6F8"/>
                </a:solidFill>
                <a:latin typeface="Verdana"/>
              </a:defRPr>
            </a:pPr>
            <a:r>
              <a:rPr dirty="0"/>
              <a:t>What kind of data is expected?</a:t>
            </a:r>
          </a:p>
          <a:p>
            <a:pPr>
              <a:spcBef>
                <a:spcPts val="800"/>
              </a:spcBef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query: str = "RAG"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Visible labels for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2926080"/>
          </a:xfrm>
          <a:prstGeom prst="roundRect">
            <a:avLst/>
          </a:prstGeom>
          <a:solidFill>
            <a:srgbClr val="181E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263" y="2182535"/>
            <a:ext cx="301752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3. FUNCTION TYPES</a:t>
            </a:r>
          </a:p>
          <a:p>
            <a:pPr>
              <a:spcBef>
                <a:spcPts val="800"/>
              </a:spcBef>
              <a:defRPr sz="1300" b="1">
                <a:solidFill>
                  <a:srgbClr val="F5F6F8"/>
                </a:solidFill>
                <a:latin typeface="Verdana"/>
              </a:defRPr>
            </a:pPr>
            <a:r>
              <a:rPr dirty="0"/>
              <a:t>What goes in? What comes out?</a:t>
            </a:r>
          </a:p>
          <a:p>
            <a:pPr>
              <a:spcBef>
                <a:spcPts val="800"/>
              </a:spcBef>
              <a:defRPr sz="1100">
                <a:solidFill>
                  <a:srgbClr val="9EAEB8"/>
                </a:solidFill>
                <a:latin typeface="Consolas"/>
              </a:defRPr>
            </a:pPr>
            <a:r>
              <a:rPr sz="1400" dirty="0">
                <a:solidFill>
                  <a:schemeClr val="bg1"/>
                </a:solidFill>
              </a:rPr>
              <a:t>(prompt: str) -&gt; str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Input/Output contracts.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737360"/>
          </a:xfrm>
          <a:prstGeom prst="roundRect">
            <a:avLst/>
          </a:prstGeom>
          <a:solidFill>
            <a:srgbClr val="1216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332720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Trebuchet MS"/>
              </a:defRPr>
            </a:pPr>
            <a:r>
              <a:rPr dirty="0"/>
              <a:t>THE AI ENGINEER'S TYPE MINDSET</a:t>
            </a:r>
          </a:p>
          <a:p>
            <a:pPr>
              <a:spcBef>
                <a:spcPts val="400"/>
              </a:spcBef>
              <a:defRPr sz="1200" b="1">
                <a:solidFill>
                  <a:srgbClr val="FF9F0A"/>
                </a:solidFill>
                <a:latin typeface="Consolas"/>
              </a:defRPr>
            </a:pPr>
            <a:r>
              <a:rPr lang="en-US" sz="1600" dirty="0"/>
              <a:t>. </a:t>
            </a:r>
            <a:r>
              <a:rPr sz="1600" dirty="0"/>
              <a:t>Function  --&gt;  RAG Pipeline  --&gt;  AI Agent  --&gt;  Multiple Tools  --&gt;  Multi-Agent System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dirty="0">
                <a:solidFill>
                  <a:srgbClr val="00B050"/>
                </a:solidFill>
              </a:rPr>
              <a:t>TYPE HINT </a:t>
            </a:r>
            <a:r>
              <a:rPr dirty="0"/>
              <a:t>= DATA LABEL  |  Don't make the next engineer guess what your AI component expects.</a:t>
            </a: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  <a:defRPr sz="1200" b="1">
                <a:solidFill>
                  <a:srgbClr val="F5F6F8"/>
                </a:solidFill>
                <a:latin typeface="Verdana"/>
              </a:defRPr>
            </a:pPr>
            <a:r>
              <a:rPr dirty="0"/>
              <a:t> Make it visible!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1445</Words>
  <Application>Microsoft Office PowerPoint</Application>
  <PresentationFormat>Widescreen</PresentationFormat>
  <Paragraphs>194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Aamad Naseem</cp:lastModifiedBy>
  <cp:revision>12</cp:revision>
  <dcterms:created xsi:type="dcterms:W3CDTF">2013-01-27T09:14:16Z</dcterms:created>
  <dcterms:modified xsi:type="dcterms:W3CDTF">2026-09-17T17:00:24Z</dcterms:modified>
  <cp:category/>
</cp:coreProperties>
</file>